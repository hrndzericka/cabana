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943600" cy="59436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0E7C86">
              <a:alpha val="70000"/>
            </a:srgbClr>
          </a:solidFill>
          <a:ln w="12700">
            <a:solidFill>
              <a:srgbClr val="0E7C86">
                <a:alpha val="7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91440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 · UNDÉCIMO 11°-3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 datos e infraestructura en la nube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la nube y cómo se asegura, desde el hardware hasta el software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120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 2: Distinguir la forma de organización nube y el aseguramiento desde la infraestructura hasta el software.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de aprendizaje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Rendimiento, escalabilidad, abstracción, automatización, HDDC, SDDC, hiperconvergencia, Cloud First.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PaaS · SaaS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la gestión según el servicio contratado.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 los datos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almacenar, usar, compartir, archivar y destruir.</a:t>
            </a:r>
            <a:endParaRPr lang="en-US" sz="175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03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reposo, en tránsito y en uso; gestión de llaves.</a:t>
            </a:r>
            <a:endParaRPr lang="en-US" sz="1750" dirty="0"/>
          </a:p>
        </p:txBody>
      </p:sp>
      <p:sp>
        <p:nvSpPr>
          <p:cNvPr id="25" name="Shape 18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3031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2618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y red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la infraestructura y administrar la red.</a:t>
            </a:r>
            <a:endParaRPr lang="en-US" sz="1750" dirty="0"/>
          </a:p>
        </p:txBody>
      </p:sp>
      <p:sp>
        <p:nvSpPr>
          <p:cNvPr id="30" name="Shape 22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56397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043" y="4303166"/>
            <a:ext cx="263347" cy="26334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42197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y credenciales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de gestión y credenciales de administración.</a:t>
            </a:r>
            <a:endParaRPr lang="en-US" sz="1750" dirty="0"/>
          </a:p>
        </p:txBody>
      </p:sp>
      <p:sp>
        <p:nvSpPr>
          <p:cNvPr id="35" name="Text 26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 datos en la nube: conceptos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vocabulario para entender cómo funciona y se protege la nube.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seguridad de datos en la nube?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políticas, tecnologías y controles que protegen la información almacenada, procesada o transmitida en la nube contra accesos no autorizados, pérdida o alteración.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acceden las personas autorizadas.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no se alteran sin permiso.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están accesibles cuando se necesitan.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en la nube es compartida: el proveedor protege la infraestructura y el cliente protege sus datos, accesos y configuraciones.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Rendimiento, competitividad y escalabilidad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475488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rápido responde el servicio: latencia, procesamiento y ancho de banda. Un ataque DDoS lo degrada; los controles no deben volver lento el sistema.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475488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Competitividad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de usar la nube: menos costos, innovación rápida y más alcance. Una fuga de datos destruye la confianza de los clientes.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475488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Crecer o reducir recursos. Vertical: más potencia a un servidor. Horizontal: más servidores. La seguridad debe escalar junto con los recursos.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Abstracción, automatización y portabilidad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475488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 la complejidad del hardware y muestra recursos lógicos simples (una VM, un bucket). El cliente depende de los controles del proveedor.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475488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sin intervención humana: crear servidores, aplicar parches, respaldos. Infraestructura como código reduce errores de configuración.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475488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datos y apps entre proveedores sin rehacerlos. Evita la dependencia (lock-in); la facilitan los contenedores y estándares abiertos.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de control y controles de gestión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475488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control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central (plano de control u orquestador) que decide dónde se guardan los datos, quién accede y qué políticas aplican. Ej.: vCenter, OpenStack, consola AWS.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475488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consumo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 y limita el uso de CPU, almacenamiento y tráfico. Un consumo anormal puede ser un ataque, como criptominería con una cuenta robada.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475488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rendimiento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 tiempo de respuesta y disponibilidad para cumplir el SLA. Herramientas: CloudWatch, Azure Monitor.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HDDC vs. SDDC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181234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HDDC · Hardware-Defined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datos tradicional.</a:t>
            </a:r>
            <a:endParaRPr lang="en-US" sz="18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función depende de un equipo físico: switch, firewall, cabina de discos.</a:t>
            </a:r>
            <a:endParaRPr lang="en-US" sz="18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algo implica mover o comprar hardware.</a:t>
            </a:r>
            <a:endParaRPr lang="en-US" sz="18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configurada a mano en cada aparato.</a:t>
            </a:r>
            <a:endParaRPr lang="en-US" sz="18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hardware manda."</a:t>
            </a:r>
            <a:endParaRPr lang="en-US" sz="1850" dirty="0"/>
          </a:p>
        </p:txBody>
      </p:sp>
      <p:sp>
        <p:nvSpPr>
          <p:cNvPr id="10" name="Shape 6"/>
          <p:cNvSpPr/>
          <p:nvPr/>
        </p:nvSpPr>
        <p:spPr>
          <a:xfrm>
            <a:off x="6278728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53048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468" y="181234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76008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SDDC · Software-Defined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598768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Cómputo, almacenamiento, red y seguridad virtualizados.</a:t>
            </a:r>
            <a:endParaRPr lang="en-US" sz="18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controla por software desde una consola.</a:t>
            </a:r>
            <a:endParaRPr lang="en-US" sz="18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minutos y automatizados.</a:t>
            </a:r>
            <a:endParaRPr lang="en-US" sz="18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microsegmentación y políticas uniformes.</a:t>
            </a:r>
            <a:endParaRPr lang="en-US" sz="18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software manda": base de la nube.</a:t>
            </a:r>
            <a:endParaRPr lang="en-US" sz="1850" dirty="0"/>
          </a:p>
        </p:txBody>
      </p:sp>
      <p:sp>
        <p:nvSpPr>
          <p:cNvPr id="15" name="Text 10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Hiperconvergencia y Cloud First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hiperconvergentes (HCI): integran cómputo, almacenamiento y red virtualizados en un mismo equipo, gestionados desde una sola consola.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HCI: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Nutanix, VMware vSAN, Azure Stack HCI.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de seguridad: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componentes que proteger y gestión centralizada; si falla un nodo, otro asume.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First: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en la que toda solución nueva se evalúa primero para la nube antes que en infraestructura propia.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Implicación: </a:t>
            </a:r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 a definir políticas de seguridad en la nube desde el diseño.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gobiernos adoptan Cloud First: antes de comprar servidores, cada institución debe justificar por qué no usar la nube.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según los servicios de la nube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IaaS, PaaS y SaaS: quién administra y quién protege cada capa.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administra cada capa?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182880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sitio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y usuarios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/ middleware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operativo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Virtualización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Servidores, almacenamiento y red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Instalaciones físicas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y los usuarios SIEMPRE son responsabilidad del cliente.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IaaS, PaaS y SaaS: seguridad del cliente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 de la pizza: IaaS = te alquilan la cocina · PaaS = masa y horno listos · SaaS = pizza a domicilio.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3515258" cy="416052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38292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926080"/>
            <a:ext cx="30580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Recibe: servidores virtuales, red y almacenamiento.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Protege: parches del SO, antivirus, firewall, cifrado de discos.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AWS EC2, Azure VM.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4338218" y="2011680"/>
            <a:ext cx="3515258" cy="416052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66818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238292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2618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566818" y="2926080"/>
            <a:ext cx="30580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Recibe: plataforma lista para su código.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Protege: código seguro, llaves y secretos, accesos.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App Engine, Heroku, Firebase.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8127797" y="2011680"/>
            <a:ext cx="3515258" cy="416052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56397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23829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42197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356397" y="2926080"/>
            <a:ext cx="30580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Recibe: aplicación completa.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Protege: contraseñas, MFA, permisos de compartir, qué datos sube.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Gmail, Microsoft 365, Zoom.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de los datos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fases, cada una con sus propios controles.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en la seguridad de los datos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la Cloud Security Alliance (CSA): el dato se protege durante toda su vida, no solo cuando se guarda.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3515258" cy="1874520"/>
          </a:xfrm>
          <a:prstGeom prst="roundRect">
            <a:avLst>
              <a:gd name="adj" fmla="val 5854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33172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33172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310896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(público, interno, confidencial), etiquetar y asignar dueño.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338218" y="2103120"/>
            <a:ext cx="3515258" cy="1874520"/>
          </a:xfrm>
          <a:prstGeom prst="roundRect">
            <a:avLst>
              <a:gd name="adj" fmla="val 5854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66818" y="233172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66818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435498" y="233172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Almacenar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5435498" y="310896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en reposo, control de accesos y respaldos.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8127797" y="2103120"/>
            <a:ext cx="3515258" cy="1874520"/>
          </a:xfrm>
          <a:prstGeom prst="roundRect">
            <a:avLst>
              <a:gd name="adj" fmla="val 5854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56397" y="233172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56397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225077" y="233172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9225077" y="310896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Autenticación, mínimo privilegio y registros de actividad.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48640" y="4251960"/>
            <a:ext cx="3515258" cy="1874520"/>
          </a:xfrm>
          <a:prstGeom prst="roundRect">
            <a:avLst>
              <a:gd name="adj" fmla="val 5854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448056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480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448056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1645920" y="525780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HTTPS/TLS, prevención de fuga (DLP) y enlaces que caducan.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4338218" y="4251960"/>
            <a:ext cx="3515258" cy="1874520"/>
          </a:xfrm>
          <a:prstGeom prst="roundRect">
            <a:avLst>
              <a:gd name="adj" fmla="val 5854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66818" y="448056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66818" y="4480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5435498" y="448056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Archivar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5435498" y="525780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seguro y económico con retención legal.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8127797" y="4251960"/>
            <a:ext cx="3515258" cy="1874520"/>
          </a:xfrm>
          <a:prstGeom prst="roundRect">
            <a:avLst>
              <a:gd name="adj" fmla="val 5854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356397" y="4480560"/>
            <a:ext cx="731520" cy="731520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356397" y="4480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9225077" y="448056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Destruir</a:t>
            </a:r>
            <a:endParaRPr lang="en-US" sz="1900" dirty="0"/>
          </a:p>
        </p:txBody>
      </p:sp>
      <p:sp>
        <p:nvSpPr>
          <p:cNvPr id="35" name="Text 32"/>
          <p:cNvSpPr txBox="1"/>
          <p:nvPr/>
        </p:nvSpPr>
        <p:spPr>
          <a:xfrm>
            <a:off x="9225077" y="525780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 seguro o destrucción criptográfica de la llave.</a:t>
            </a:r>
            <a:endParaRPr lang="en-US" sz="1450" dirty="0"/>
          </a:p>
        </p:txBody>
      </p:sp>
      <p:sp>
        <p:nvSpPr>
          <p:cNvPr id="36" name="Text 33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Cifrado de datos en la nube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tiene la llave tiene los datos.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Estados de los datos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Cifrar = transformar texto legible en ilegible con un algoritmo y una llave.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3515258" cy="416052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38292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reposo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926080"/>
            <a:ext cx="30580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guardados en discos, bases de datos y respaldos.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típico: AES-256.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4338218" y="2011680"/>
            <a:ext cx="3515258" cy="416052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66818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238292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2618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tránsito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566818" y="2926080"/>
            <a:ext cx="30580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que viajan por la red.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con TLS 1.2/1.3, VPN.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8127797" y="2011680"/>
            <a:ext cx="3515258" cy="4160520"/>
          </a:xfrm>
          <a:prstGeom prst="roundRect">
            <a:avLst>
              <a:gd name="adj" fmla="val 3121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56397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23829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42197" y="224028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uso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356397" y="2926080"/>
            <a:ext cx="30580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mientras se procesan en memoria.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Computación confidencial y enclaves seguros.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cifrado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2194560"/>
                <a:gridCol w="2953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funciona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en la nube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Simétrico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sola llave cifra y descifra; muy rápido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AES-128, AES-256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Discos, bases de datos, archivos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Asimétrico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Llave pública cifra, llave privada descifra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RSA, ECC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HTTPS, SSH, firmas digitales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Huella única e irreversible del dato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SHA-256, bcrypt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Contraseñas, verificar integridad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llaves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nunca guardar llaves dentro del código ni junto a los datos que protegen.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541004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38292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24028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926080"/>
            <a:ext cx="495284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del proveedor que crea, guarda y rota llaves: AWS KMS, Azure Key Vault, Google Cloud KMS.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6233008" y="2011680"/>
            <a:ext cx="541004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61608" y="22402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238292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47408" y="224028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6461608" y="2926080"/>
            <a:ext cx="495284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hardware a prueba de manipulación que protege las llaves.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548640" y="4229100"/>
            <a:ext cx="541004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44577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60034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45770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777240" y="5143500"/>
            <a:ext cx="495284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"Trae tu propia llave": el cliente genera la llave y la carga al proveedor.</a:t>
            </a:r>
            <a:endParaRPr lang="en-US" sz="1750" dirty="0"/>
          </a:p>
        </p:txBody>
      </p:sp>
      <p:sp>
        <p:nvSpPr>
          <p:cNvPr id="21" name="Shape 15"/>
          <p:cNvSpPr/>
          <p:nvPr/>
        </p:nvSpPr>
        <p:spPr>
          <a:xfrm>
            <a:off x="6233008" y="4229100"/>
            <a:ext cx="5410048" cy="1943100"/>
          </a:xfrm>
          <a:prstGeom prst="roundRect">
            <a:avLst>
              <a:gd name="adj" fmla="val 5647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61608" y="44577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254" y="4600346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47408" y="445770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del lado del cliente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6461608" y="5143500"/>
            <a:ext cx="495284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cifran antes de subirlos: el proveedor nunca ve el contenido.</a:t>
            </a:r>
            <a:endParaRPr lang="en-US" sz="1750" dirty="0"/>
          </a:p>
        </p:txBody>
      </p:sp>
      <p:sp>
        <p:nvSpPr>
          <p:cNvPr id="26" name="Text 19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de la seguridad en la nube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Infraestructura, red, interfaces de gestión y credenciales.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Asegurando la infraestructura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física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Biometría, cámaras, guardas, energía redundante (proveedor).</a:t>
            </a:r>
            <a:endParaRPr lang="en-US" sz="195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servicios innecesarios, cambiar claves por defecto, parches.</a:t>
            </a:r>
            <a:endParaRPr lang="en-US" sz="195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Hipervisor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estricto entre VM de distintos clientes.</a:t>
            </a:r>
            <a:endParaRPr lang="en-US" sz="195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03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seguras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aprobadas para crear servidores.</a:t>
            </a:r>
            <a:endParaRPr lang="en-US" sz="1950" dirty="0"/>
          </a:p>
        </p:txBody>
      </p:sp>
      <p:sp>
        <p:nvSpPr>
          <p:cNvPr id="25" name="Shape 18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3031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2618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Antimalware y EDR en cada servidor.</a:t>
            </a:r>
            <a:endParaRPr lang="en-US" sz="1950" dirty="0"/>
          </a:p>
        </p:txBody>
      </p:sp>
      <p:sp>
        <p:nvSpPr>
          <p:cNvPr id="30" name="Shape 22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56397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043" y="4303166"/>
            <a:ext cx="263347" cy="26334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42197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centralizados en un SIEM y respaldos en varias zonas.</a:t>
            </a:r>
            <a:endParaRPr lang="en-US" sz="1950" dirty="0"/>
          </a:p>
        </p:txBody>
      </p:sp>
      <p:sp>
        <p:nvSpPr>
          <p:cNvPr id="35" name="Text 26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 de la red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/ VNet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privada y aislada del cliente dentro de la nube.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 pública (web) y privada (base de datos).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y WAF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tráfico necesario (ej. puerto 443); WAF frena inyección SQL.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03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Anti-DDoS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contra saturación del servicio.</a:t>
            </a:r>
            <a:endParaRPr lang="en-US" sz="1900" dirty="0"/>
          </a:p>
        </p:txBody>
      </p:sp>
      <p:sp>
        <p:nvSpPr>
          <p:cNvPr id="25" name="Shape 18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3031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2618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/ enlace dedicado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la oficina con la nube de forma cifrada.</a:t>
            </a:r>
            <a:endParaRPr lang="en-US" sz="1900" dirty="0"/>
          </a:p>
        </p:txBody>
      </p:sp>
      <p:sp>
        <p:nvSpPr>
          <p:cNvPr id="30" name="Shape 22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56397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043" y="4303166"/>
            <a:ext cx="263347" cy="26334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42197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Microsegmentación: nunca confiar, siempre verificar.</a:t>
            </a:r>
            <a:endParaRPr lang="en-US" sz="1900" dirty="0"/>
          </a:p>
        </p:txBody>
      </p:sp>
      <p:sp>
        <p:nvSpPr>
          <p:cNvPr id="35" name="Text 26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de gestión y credenciales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181234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de gestión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web, CLI, APIs y SDK: dan control total.</a:t>
            </a:r>
            <a:endParaRPr lang="en-US" sz="17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solo por HTTPS y desde IP autorizadas.</a:t>
            </a:r>
            <a:endParaRPr lang="en-US" sz="17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toda actividad (CloudTrail, Activity Log).</a:t>
            </a:r>
            <a:endParaRPr lang="en-US" sz="17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 corta duración y permisos mínimos.</a:t>
            </a:r>
            <a:endParaRPr lang="en-US" sz="17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 en vez de exponer SSH/RDP.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6278728" y="1417320"/>
            <a:ext cx="5364328" cy="4709160"/>
          </a:xfrm>
          <a:prstGeom prst="roundRect">
            <a:avLst>
              <a:gd name="adj" fmla="val 233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53048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468" y="181234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76008" y="164592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Credenciales de administración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598768" y="2514600"/>
            <a:ext cx="4724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usar la cuenta root en el día a día.</a:t>
            </a:r>
            <a:endParaRPr lang="en-US" sz="17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obligatorio para administradores.</a:t>
            </a:r>
            <a:endParaRPr lang="en-US" sz="17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privilegio con roles IAM.</a:t>
            </a:r>
            <a:endParaRPr lang="en-US" sz="17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 llaves; usar gestor de secretos.</a:t>
            </a:r>
            <a:endParaRPr lang="en-US" sz="17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subir credenciales a GitHub.</a:t>
            </a:r>
            <a:endParaRPr lang="en-US" sz="17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Revocar accesos al salir alguien.</a:t>
            </a:r>
            <a:endParaRPr lang="en-US" sz="1750" dirty="0"/>
          </a:p>
        </p:txBody>
      </p:sp>
      <p:sp>
        <p:nvSpPr>
          <p:cNvPr id="15" name="Text 10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rápido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2704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diferencia entre HDDC y SDDC?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33008" y="141732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55448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964528" y="152704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sistema hiperconvergente?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2461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21868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IaaS, ¿quién aplica los parches del sistema operativo?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33008" y="310896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15888" y="32461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964528" y="321868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Mencione las 6 fases del ciclo de vida de los datos.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80060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93776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91032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al cifrado simétrico del asimétrico?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233008" y="480060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5888" y="493776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6964528" y="491032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3 buenas prácticas para credenciales de administración.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5029200" cy="50292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37744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recordar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7498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SDDC e hiperconvergencia: la infraestructura se controla por software.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servicio (IaaS → SaaS), menos administra el cliente, pero sus datos siempre son su responsabilidad.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se protege en todo su ciclo de vida.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Cifrar en reposo y en tránsito; proteger las llaves.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+ mínimo privilegio + registros = base de la seguridad.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 · Seguridad de datos e infraestructura  ·  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RA2 Seguridad de datos e infraestructura</dc:title>
  <dc:subject>PptxGenJS Presentation</dc:subject>
  <dc:creator>Ciberseguridad 11°-3</dc:creator>
  <cp:lastModifiedBy>Ciberseguridad 11°-3</cp:lastModifiedBy>
  <cp:revision>1</cp:revision>
  <dcterms:created xsi:type="dcterms:W3CDTF">2026-09-29T14:09:47Z</dcterms:created>
  <dcterms:modified xsi:type="dcterms:W3CDTF">2026-09-29T14:09:47Z</dcterms:modified>
</cp:coreProperties>
</file>