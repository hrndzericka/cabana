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UNDÉCIMO 11°-3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Computación en la nube y virtualización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modelos de implementación y el rol de la virtualización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1: Analizar los componentes de la computación de la nube y el rol de la virtualización mediante modelos de implementación.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en la nube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Conceptos, cloud computing, modelos de negocio, máquina virtual, contenedor y API.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modelo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final o consumidor y proveedor o prestador.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Conceptos, historia, ventajas, tipos y su rol en la nube.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VMware, Xen, Hyper-V Server, VirtualBox y Virtual PC.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en detalle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Características, historia, soluciones, ventajas, seguridad y casos de uso.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despliegue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Ventajas, inconvenientes, contratación y nube pública, privada e híbrida.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Computación en la nube: conceptos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nube, cómo se cobra y con qué piezas se construye?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que permite acceder por Internet y bajo demanda a recursos informáticos que están en los centros de datos de un proveedor, pagando solo lo que se usa.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almacenamiento, bases de datos, redes y software.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demanda: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piden y se liberan en minutos, sin comprar equipo.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uso: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 por horas, gigabytes o peticiones.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Netflix, Microsoft 365, Canva.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no es algo abstracto: son computadoras reales en centros de datos de otra empresa, a las que accedemos por la red.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negocio en la nube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cobra?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por uso (pay-as-you-go)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 que se consume: horas, GB, peticiones.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virtual en AWS cobrada por hora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fijo mensual o anual.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365, Spotify, Canva Pro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 gratis; funciones avanzadas pagadas.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Dropbox 2 GB, Google Drive 15 GB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Instancias reservadas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de 1 a 3 años a cambio de descuento.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 reservados en Azure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Publicidad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para el usuario; lo pagan los anuncios.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gratuito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virtual (VM)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simulada por software que funciona dentro de una computadora física, con su propio sistema operativo, CPU, memoria, disco y red virtuales.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(anfitrión):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físico real.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(invitado):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que corre dentro de la VM.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que reparte el hardware entre varias VM.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"foto" del estado de la VM para volver atrás.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computadora con Windows se instala VirtualBox y dentro se crea una VM con Linux Ubuntu. Si algo falla en Ubuntu, Windows no se ve afectado.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 vs. máquina virtual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virtual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un sistema operativo completo.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 gigabytes.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minutos.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fuerte entre VM.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VMware, VirtualBox, Hyper-V.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Empaca la app y sus librerías.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kernel del anfitrión.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 megabytes y arranca en segundos.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a nivel de proceso.</a:t>
            </a:r>
            <a:endParaRPr lang="en-US" sz="21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Docker; Kubernetes los orquesta.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API: el idioma de la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(Interfaz de Programación de Aplicaciones) es un conjunto de reglas que permite que dos programas se comuniquen entre sí.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 casi todo se controla por API: crear una VM, subir un archivo, consultar una base de datos.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del celular usan APIs para pedir datos al servidor (clima, mapas, pagos).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mal protegida es una puerta de entrada para atacantes.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es el mesero: el cliente (app) hace un pedido, el mesero lo lleva a la cocina (servidor) y regresa con la respuesta.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modelo de relación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usa la nube y quién la ofrece? ¿Quién protege qué?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y proveedor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final o consumidor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u organización que usa el servicio.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Elige, configura y paga el servicio.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por sus datos, usuarios y contraseñas.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un colegio que usa Google Workspace.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 o prestador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que ofrece los recursos.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mantiene centros de datos, red y virtualización.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disponibilidad según el SLA.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AWS, Microsoft Azure, Google Cloud.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compartida y otros roles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protege LA nube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físicas, servidores, red e hipervisor.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233008" y="141732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7408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protege lo que pone EN la nube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461608" y="233172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cuentas, contraseñas, permisos y configuraciones.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1605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Bróker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84632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 que ayuda a elegir, integrar y administrar servicios de varios proveedores.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6233008" y="393192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6160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47408" y="41605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y portador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461608" y="484632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auditor evalúa seguridad y cumplimiento; el portador (carrier) brinda la conectividad.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Virtualización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que hace posible la nube.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Virtualización e hipervisores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1 · bare metal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directo sobre el hardware.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rendimiento y seguridad.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centros de datos.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ESXi, Hyper-V Server, Xen.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2 · alojado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como un programa sobre un sistema operativo.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usar, ideal para aprender.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laboratorios y pruebas.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VirtualBox, VMware Workstation, Virtual PC.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relacionados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en la nube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por Internet bajo demanda; la virtualización es su base tecnológica.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computadoras que trabajan como una sola: más potencia y alta disponibilidad.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Procesamiento de Datos: servidores, red, energía de respaldo, clima y seguridad física.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en inglés del CPD. Los proveedores tienen data centers en regiones del mundo.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gestión de relación con clientes (Salesforce, HubSpot), ofrecido como SaaS.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 guest, snapshot, ERP (SAP), migración en caliente de VM.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la virtualización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3291840"/>
            <a:ext cx="10545775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CP-40 / CP-67: divide un mainframe entre varios usuarios.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34285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9029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29029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VM/370, primer sistema comercial de VM.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91914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86658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86658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Workstation virtualiza PC x86.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9544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44288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044288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Xen; Microsoft compra Virtual PC.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07173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01917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01917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 y AMD-V: soporte en el procesador.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64802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59546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2007–08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559546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y Microsoft Hyper-V.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1222431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39935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9539935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populariza los contenedores.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de la virtualización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hardware de un servidor (antes ~15 %)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1098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4521098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crear un servidor nuevo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7797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10677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10+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310677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en un solo equipo físico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equipos, energía y espacio.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si una VM falla o se infecta, las demás siguen.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con snapshots, migración entre servidores y laboratorios seguros para pruebas.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virtualización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3227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virtualiza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servidores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un servidor físico en varios virtuales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ESXi con 10 VM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escritorio (VDI)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escritorio corre en un servidor remoto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365, Citrix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sistema operativo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Entornos aislados sobre un mismo kernel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 Docker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aplicaciones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app corre aislada sin instalarse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App-V, apps web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almacenamiento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 discos como un solo almacenamiento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SAN, RAID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lógicas independientes del cableado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VLAN, SDN, VPN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datos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unificado a fuentes distintas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Capas de integración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de la virtualización en la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virtualización no habría nube: es el cimiento que permite compartir, escalar y cobrar.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02154" cy="3931920"/>
          </a:xfrm>
          <a:prstGeom prst="roundRect">
            <a:avLst>
              <a:gd name="adj" fmla="val 421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3957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83957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2327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Multi-inquilino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223639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divide sus data centers en miles de recursos virtuales y los comparte entre muchos clientes, aislados entre sí.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79394" y="2194560"/>
            <a:ext cx="2602154" cy="393192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4711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14711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516554" y="2697480"/>
            <a:ext cx="2327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62274" y="3520440"/>
            <a:ext cx="223639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se entregan bajo demanda y en minutos desde una consola web.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10148" y="2194560"/>
            <a:ext cx="2602154" cy="3931920"/>
          </a:xfrm>
          <a:prstGeom prst="roundRect">
            <a:avLst>
              <a:gd name="adj" fmla="val 421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45465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45465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47308" y="2697480"/>
            <a:ext cx="2327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393028" y="3520440"/>
            <a:ext cx="223639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o quitan VM automáticamente según la demanda.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040901" y="2194560"/>
            <a:ext cx="2602154" cy="393192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976218" y="18288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7621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178061" y="2697480"/>
            <a:ext cx="2327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23781" y="3520440"/>
            <a:ext cx="223639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hipervisor mide el consumo de cada cliente para cobrarle lo justo.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 virtualización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más usadas en empresas y en el aula.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de software de virtualización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828800"/>
                <a:gridCol w="4142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Hipervisor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(ESXi, vSphere, Workstation)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/ Broadcom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ESXi: tipo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Workstation: tipo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empresarial; vSphere administra muchos servidores; vMotion mueve VM encendidas.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abierto (Linux Foundation)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Gratuito, paravirtualización; base inicial de Amazon EC2 y de XenServer.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Hyper-V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 en Windows Server y Windows Pro; base de Azure; se gestiona con PowerShell.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 y abierto; Windows, Linux y macOS; ideal para laboratorios.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PC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Connectix → Microsoft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Corría Windows antiguos ("Modo XP"); descontinuado, reemplazado por Hyper-V.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Computación en la nube en detalle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Características, historia, soluciones, ventajas, seguridad y casos de uso.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características esenciales (NIST)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bajo demanda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Obtengo recursos sin hablar con nadie del proveedor.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acceso a la red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cualquier dispositivo con Internet.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recursos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se comparten entre muchos clientes.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rápida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o se reduce según la demanda.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medido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y se cobra el consumo real.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la computación en la nube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3291840"/>
            <a:ext cx="10545775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McCarthy: la computación se venderá como la electricidad.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34285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9029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29029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ARPANET, antecesora de Internet.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91914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86658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86658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Salesforce: software por web (inicio del SaaS).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9544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44288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044288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lanza AWS (S3 y EC2).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07173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01917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2008–10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01917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Engine, Azure y OpenStack.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64802" y="3145536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59546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559546" y="4023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publica la definición oficial.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1222431" y="31455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39935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9539935" y="1874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contenedores, multicloud e IA.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soluciones (modelos de servicio)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567864" cy="4754880"/>
          </a:xfrm>
          <a:prstGeom prst="roundRect">
            <a:avLst>
              <a:gd name="adj" fmla="val 427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21106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se alquilan servidores, redes y almacenamiento.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AWS EC2, Azure VM.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3390824" y="1417320"/>
            <a:ext cx="2567864" cy="4754880"/>
          </a:xfrm>
          <a:prstGeom prst="roundRect">
            <a:avLst>
              <a:gd name="adj" fmla="val 427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19424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05224" y="16459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619424" y="2331720"/>
            <a:ext cx="21106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lista para programar y publicar apps.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Google App Engine, Heroku.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6233008" y="1417320"/>
            <a:ext cx="2567864" cy="4754880"/>
          </a:xfrm>
          <a:prstGeom prst="roundRect">
            <a:avLst>
              <a:gd name="adj" fmla="val 427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47408" y="16459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461608" y="2331720"/>
            <a:ext cx="21106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lista para usar en el navegador.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Gmail, Microsoft 365, Canva.</a:t>
            </a:r>
            <a:endParaRPr lang="en-US" sz="1950" dirty="0"/>
          </a:p>
        </p:txBody>
      </p:sp>
      <p:sp>
        <p:nvSpPr>
          <p:cNvPr id="20" name="Shape 14"/>
          <p:cNvSpPr/>
          <p:nvPr/>
        </p:nvSpPr>
        <p:spPr>
          <a:xfrm>
            <a:off x="9075191" y="1417320"/>
            <a:ext cx="2567864" cy="4754880"/>
          </a:xfrm>
          <a:prstGeom prst="roundRect">
            <a:avLst>
              <a:gd name="adj" fmla="val 427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03791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17885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89591" y="16459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XaaS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303791" y="2331720"/>
            <a:ext cx="21106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(serverless), DaaS (escritorio), BaaS (respaldo), SECaaS (seguridad).</a:t>
            </a:r>
            <a:endParaRPr lang="en-US" sz="1950" dirty="0"/>
          </a:p>
        </p:txBody>
      </p:sp>
      <p:sp>
        <p:nvSpPr>
          <p:cNvPr id="25" name="Text 1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seguridad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gasto de capital (CAPEX) a gasto operativo (OPEX).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lugar.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al instante.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actualiza y mantiene.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y colaboración en tiempo real.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básica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Tríada CID: Confidencialidad, Integridad, Disponibilidad.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y contraseñas robustas.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datos.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 por roles y respaldos.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Normas: ISO 27001, ISO 27017, Ley 8968.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OneDrive y copias de seguridad empresariales.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Classroom, Teams y Moodle.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sobre AWS; Spotify sobre Google Cloud.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que suman servidores en Black Friday.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 IA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grandes datos y modelos de IA.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de sistemas en otra región ante desastres.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y modelos de despliegue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piezas forman la nube y cómo se implementa.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computacionales en la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entra por el front-end (navegador, app); el proveedor opera el back-end (data centers + hipervisor).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virtuales, contenedores y funciones.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Discos, archivos y objetos (buckets).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virtuales, balanceadores, DNS.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60034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Relacionales y NoSQL administradas.</a:t>
            </a:r>
            <a:endParaRPr lang="en-US" sz="1950" dirty="0"/>
          </a:p>
        </p:txBody>
      </p:sp>
      <p:sp>
        <p:nvSpPr>
          <p:cNvPr id="26" name="Shape 19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66818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60034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52618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566818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Consola, APIs, monitoreo y facturación.</a:t>
            </a:r>
            <a:endParaRPr lang="en-US" sz="1950" dirty="0"/>
          </a:p>
        </p:txBody>
      </p:sp>
      <p:sp>
        <p:nvSpPr>
          <p:cNvPr id="31" name="Shape 23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56397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600346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042197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356397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Identidades, cifrado, firewall y registros.</a:t>
            </a:r>
            <a:endParaRPr lang="en-US" sz="1950" dirty="0"/>
          </a:p>
        </p:txBody>
      </p:sp>
      <p:sp>
        <p:nvSpPr>
          <p:cNvPr id="36" name="Text 27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Características, ventajas e inconvenientes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inversión inicial.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 de implementación.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movilidad.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física profesional.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negocio.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Regidos por un SLA (ej. 99,9 %).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 o inconvenientes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Internet.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 (lock-in).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control de la infraestructura.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ubicación de los datos.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que crecen sin control.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caída del proveedor afecta a todos.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contratación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conviene?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demanda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compromiso; se paga por hora o segundo.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cortos o impredecibles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 / compromiso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de 1 a 3 años con hasta 70 % de descuento.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Cargas estables y permanentes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/ interrumpible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sobrante muy barata que puede retirarse.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que toleran pausas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por usuario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 por persona (SaaS).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Correo, ofimática, CRM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gratuito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limitado sin costo.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Aprender y hacer pruebas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empresarial / bróker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Acuerdo personalizado o por intermediario.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Organizaciones grandes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despliegue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existen la nube comunitaria (organizaciones con intereses comunes) y el multicloud (varios proveedores).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pública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del proveedor compartida por muchos clientes vía Internet.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Barata y escalable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Menos control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AWS, Azure, Gmail.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dedicada a una sola organización.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 y seguridad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Costosa, requiere personal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bancos, hospitales, gobierno.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híbrida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privada y pública conectadas.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Datos sensibles en privada, picos en pública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Más compleja de gestionar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banco con app móvil en la pública.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 un hipervisor tipo 1 de uno tipo 2?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4528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contenedor arranca más rápido que una VM?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 las 5 características esenciales de la nube.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CPD y qué es un clúster?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protege el proveedor y qué protege el cliente?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5888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modelo de despliegue recomendaría a un banco? ¿Por qué?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5029200" cy="5029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= recursos por Internet, bajo demanda y con pago por uso.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virtualización (hipervisor) es el cimiento de la nube.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 y SaaS definen cuánto administra cada parte.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Pública, privada e híbrida: se elige según control, costo y datos.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responsabilidad compartida entre cliente y proveedor.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Nube y virtualización  ·  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RA1 Nube y virtualización</dc:title>
  <dc:subject>PptxGenJS Presentation</dc:subject>
  <dc:creator>Ciberseguridad 11°-3</dc:creator>
  <cp:lastModifiedBy>Ciberseguridad 11°-3</cp:lastModifiedBy>
  <cp:revision>1</cp:revision>
  <dcterms:created xsi:type="dcterms:W3CDTF">2026-09-29T14:09:46Z</dcterms:created>
  <dcterms:modified xsi:type="dcterms:W3CDTF">2026-09-29T14:09:46Z</dcterms:modified>
</cp:coreProperties>
</file>